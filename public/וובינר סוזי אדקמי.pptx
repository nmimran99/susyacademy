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ssistant" charset="1" panose="00000500000000000000"/>
      <p:regular r:id="rId21"/>
    </p:embeddedFont>
    <p:embeddedFont>
      <p:font typeface="Assistan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https://wa.me/972587542274" TargetMode="External" Type="http://schemas.openxmlformats.org/officeDocument/2006/relationships/hyperlink"/><Relationship Id="rId19" Target="https://www.instagram.com/susyacademy/" TargetMode="External" Type="http://schemas.openxmlformats.org/officeDocument/2006/relationships/hyperlink"/><Relationship Id="rId2" Target="../media/image1.png" Type="http://schemas.openxmlformats.org/officeDocument/2006/relationships/image"/><Relationship Id="rId20" Target="https://www.facebook.com/profile.php?id=61556665914215" TargetMode="External" Type="http://schemas.openxmlformats.org/officeDocument/2006/relationships/hyperlink"/><Relationship Id="rId21" Target="https://www.facebook.com/profile.php?id=61556665914215" TargetMode="External" Type="http://schemas.openxmlformats.org/officeDocument/2006/relationships/hyperlink"/><Relationship Id="rId22" Target="https://mail.google.com/mail/?view=cm&amp;fs=1&amp;to=susyacademyitaly@gmail.com" TargetMode="External" Type="http://schemas.openxmlformats.org/officeDocument/2006/relationships/hyperlink"/><Relationship Id="rId23" Target="http://www.tiktok.com/@susy.academy" TargetMode="External" Type="http://schemas.openxmlformats.org/officeDocument/2006/relationships/hyperlink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23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https://wa.me/972587542274" TargetMode="External" Type="http://schemas.openxmlformats.org/officeDocument/2006/relationships/hyperlink"/><Relationship Id="rId14" Target="https://www.instagram.com/susyacademy/" TargetMode="External" Type="http://schemas.openxmlformats.org/officeDocument/2006/relationships/hyperlink"/><Relationship Id="rId15" Target="https://www.facebook.com/profile.php?id=61556665914215" TargetMode="External" Type="http://schemas.openxmlformats.org/officeDocument/2006/relationships/hyperlink"/><Relationship Id="rId16" Target="https://www.facebook.com/profile.php?id=61556665914215" TargetMode="External" Type="http://schemas.openxmlformats.org/officeDocument/2006/relationships/hyperlink"/><Relationship Id="rId17" Target="https://mail.google.com/mail/?view=cm&amp;fs=1&amp;to=susyacademyitaly@gmail.com" TargetMode="External" Type="http://schemas.openxmlformats.org/officeDocument/2006/relationships/hyperlink"/><Relationship Id="rId18" Target="http://www.tiktok.com/@susy.academy" TargetMode="External" Type="http://schemas.openxmlformats.org/officeDocument/2006/relationships/hyperlink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68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0310" y="-295412"/>
            <a:ext cx="6007379" cy="6007379"/>
          </a:xfrm>
          <a:custGeom>
            <a:avLst/>
            <a:gdLst/>
            <a:ahLst/>
            <a:cxnLst/>
            <a:rect r="r" b="b" t="t" l="l"/>
            <a:pathLst>
              <a:path h="6007379" w="6007379">
                <a:moveTo>
                  <a:pt x="0" y="0"/>
                </a:moveTo>
                <a:lnTo>
                  <a:pt x="6007380" y="0"/>
                </a:lnTo>
                <a:lnTo>
                  <a:pt x="6007380" y="6007379"/>
                </a:lnTo>
                <a:lnTo>
                  <a:pt x="0" y="600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28737" y="-1336851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90310" y="-1142856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28738" y="7200900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40" y="0"/>
                </a:lnTo>
                <a:lnTo>
                  <a:pt x="4243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56755" y="6622183"/>
            <a:ext cx="5381985" cy="5272233"/>
          </a:xfrm>
          <a:custGeom>
            <a:avLst/>
            <a:gdLst/>
            <a:ahLst/>
            <a:cxnLst/>
            <a:rect r="r" b="b" t="t" l="l"/>
            <a:pathLst>
              <a:path h="5272233" w="5381985">
                <a:moveTo>
                  <a:pt x="0" y="0"/>
                </a:moveTo>
                <a:lnTo>
                  <a:pt x="5381985" y="0"/>
                </a:lnTo>
                <a:lnTo>
                  <a:pt x="5381985" y="5272234"/>
                </a:lnTo>
                <a:lnTo>
                  <a:pt x="0" y="5272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09101" y="7580371"/>
            <a:ext cx="356851" cy="356851"/>
          </a:xfrm>
          <a:custGeom>
            <a:avLst/>
            <a:gdLst/>
            <a:ahLst/>
            <a:cxnLst/>
            <a:rect r="r" b="b" t="t" l="l"/>
            <a:pathLst>
              <a:path h="356851" w="356851">
                <a:moveTo>
                  <a:pt x="0" y="0"/>
                </a:moveTo>
                <a:lnTo>
                  <a:pt x="356851" y="0"/>
                </a:lnTo>
                <a:lnTo>
                  <a:pt x="356851" y="356850"/>
                </a:lnTo>
                <a:lnTo>
                  <a:pt x="0" y="356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47339" y="8546590"/>
            <a:ext cx="358015" cy="358015"/>
          </a:xfrm>
          <a:custGeom>
            <a:avLst/>
            <a:gdLst/>
            <a:ahLst/>
            <a:cxnLst/>
            <a:rect r="r" b="b" t="t" l="l"/>
            <a:pathLst>
              <a:path h="358015" w="358015">
                <a:moveTo>
                  <a:pt x="0" y="0"/>
                </a:moveTo>
                <a:lnTo>
                  <a:pt x="358014" y="0"/>
                </a:lnTo>
                <a:lnTo>
                  <a:pt x="358014" y="358015"/>
                </a:lnTo>
                <a:lnTo>
                  <a:pt x="0" y="3580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09101" y="8061046"/>
            <a:ext cx="361719" cy="361719"/>
          </a:xfrm>
          <a:custGeom>
            <a:avLst/>
            <a:gdLst/>
            <a:ahLst/>
            <a:cxnLst/>
            <a:rect r="r" b="b" t="t" l="l"/>
            <a:pathLst>
              <a:path h="361719" w="361719">
                <a:moveTo>
                  <a:pt x="0" y="0"/>
                </a:moveTo>
                <a:lnTo>
                  <a:pt x="361719" y="0"/>
                </a:lnTo>
                <a:lnTo>
                  <a:pt x="361719" y="361719"/>
                </a:lnTo>
                <a:lnTo>
                  <a:pt x="0" y="3617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109101" y="7091355"/>
            <a:ext cx="360990" cy="360990"/>
          </a:xfrm>
          <a:custGeom>
            <a:avLst/>
            <a:gdLst/>
            <a:ahLst/>
            <a:cxnLst/>
            <a:rect r="r" b="b" t="t" l="l"/>
            <a:pathLst>
              <a:path h="360990" w="360990">
                <a:moveTo>
                  <a:pt x="0" y="0"/>
                </a:moveTo>
                <a:lnTo>
                  <a:pt x="360990" y="0"/>
                </a:lnTo>
                <a:lnTo>
                  <a:pt x="360990" y="360989"/>
                </a:lnTo>
                <a:lnTo>
                  <a:pt x="0" y="36098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47339" y="9069839"/>
            <a:ext cx="361170" cy="270878"/>
          </a:xfrm>
          <a:custGeom>
            <a:avLst/>
            <a:gdLst/>
            <a:ahLst/>
            <a:cxnLst/>
            <a:rect r="r" b="b" t="t" l="l"/>
            <a:pathLst>
              <a:path h="270878" w="361170">
                <a:moveTo>
                  <a:pt x="0" y="0"/>
                </a:moveTo>
                <a:lnTo>
                  <a:pt x="361170" y="0"/>
                </a:lnTo>
                <a:lnTo>
                  <a:pt x="361170" y="270877"/>
                </a:lnTo>
                <a:lnTo>
                  <a:pt x="0" y="2708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32277" y="7068132"/>
            <a:ext cx="154662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8" tooltip="https://wa.me/972587542274"/>
              </a:rPr>
              <a:t>058-754-2274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49020" y="4799638"/>
            <a:ext cx="5389959" cy="106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819"/>
              </a:lnSpc>
              <a:spcBef>
                <a:spcPct val="0"/>
              </a:spcBef>
            </a:pPr>
            <a:r>
              <a:rPr lang="he-IL" b="true" sz="62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וובינר סוזי אקדמי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10138" y="5801670"/>
            <a:ext cx="726772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</a:pPr>
            <a:r>
              <a:rPr lang="he-IL" sz="3600" spc="745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הדרך שלך ללימודים באיטליה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28138" y="7536014"/>
            <a:ext cx="15610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9" tooltip="https://www.instagram.com/susyacademy/"/>
              </a:rPr>
              <a:t>susyacademy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66375" y="8520175"/>
            <a:ext cx="412195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20" tooltip="https://www.facebook.com/profile.php?id=61556665914215"/>
              </a:rPr>
              <a:t>Susy Academy - </a:t>
            </a:r>
            <a:r>
              <a:rPr lang="he-IL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21" tooltip="https://www.facebook.com/profile.php?id=61556665914215"/>
                <a:rtl val="true"/>
              </a:rPr>
              <a:t>לימודים באיטליה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6375" y="8999855"/>
            <a:ext cx="350162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22" tooltip="https://mail.google.com/mail/?view=cm&amp;fs=1&amp;to=susyacademyitaly@gmail.com"/>
              </a:rPr>
              <a:t>susyacademyitaly@gmail.com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28138" y="8003896"/>
            <a:ext cx="190711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23" tooltip="http://www.tiktok.com/@susy.academy"/>
              </a:rPr>
              <a:t>susy.academy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08676" y="2204105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8676" y="3033051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5"/>
                </a:lnTo>
                <a:lnTo>
                  <a:pt x="0" y="1050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8676" y="4912351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08676" y="5777705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08676" y="6606652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08676" y="7472007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45797" y="-2205833"/>
            <a:ext cx="4589731" cy="4640112"/>
          </a:xfrm>
          <a:custGeom>
            <a:avLst/>
            <a:gdLst/>
            <a:ahLst/>
            <a:cxnLst/>
            <a:rect r="r" b="b" t="t" l="l"/>
            <a:pathLst>
              <a:path h="4640112" w="4589731">
                <a:moveTo>
                  <a:pt x="0" y="0"/>
                </a:moveTo>
                <a:lnTo>
                  <a:pt x="4589731" y="0"/>
                </a:lnTo>
                <a:lnTo>
                  <a:pt x="4589731" y="4640112"/>
                </a:lnTo>
                <a:lnTo>
                  <a:pt x="0" y="4640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45797" y="7256743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39" y="0"/>
                </a:lnTo>
                <a:lnTo>
                  <a:pt x="4243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64882" y="8091286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76014" y="914400"/>
            <a:ext cx="438328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על מה נעבור?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21089" y="2389374"/>
            <a:ext cx="1887587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מי זאת סוזי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15186" y="3218321"/>
            <a:ext cx="13993490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מהן דרישות הקבלה ללימודים השונים באיטליה והרפורמה החדשה למקצועות הרפואה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84045" y="5097620"/>
            <a:ext cx="12524631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ממה מורכבת המכינה, איך היא מועברת, כמה זמן היא לוקחת וכמה היא עולה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2143" y="5962975"/>
            <a:ext cx="14286533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מהו התהליך הבירוקרטי הנדרש על מנת להירשם למבחנים, להוציא ויזה ולהתחיל ללמוד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9379" y="6791921"/>
            <a:ext cx="13659296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למה כדאי ללמוד באיטליה? מהן עלויות המחיה, שכר הלימוד והרמה האוניברסיטאית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4337" y="7657276"/>
            <a:ext cx="8164339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מענה על שאלות ע”י סטודנטים שלומדים באיטליה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08676" y="3972701"/>
            <a:ext cx="1050624" cy="1050624"/>
          </a:xfrm>
          <a:custGeom>
            <a:avLst/>
            <a:gdLst/>
            <a:ahLst/>
            <a:cxnLst/>
            <a:rect r="r" b="b" t="t" l="l"/>
            <a:pathLst>
              <a:path h="1050624" w="1050624">
                <a:moveTo>
                  <a:pt x="0" y="0"/>
                </a:moveTo>
                <a:lnTo>
                  <a:pt x="1050624" y="0"/>
                </a:lnTo>
                <a:lnTo>
                  <a:pt x="1050624" y="1050624"/>
                </a:lnTo>
                <a:lnTo>
                  <a:pt x="0" y="1050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02802" y="4157970"/>
            <a:ext cx="7661523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39"/>
              </a:lnSpc>
              <a:spcBef>
                <a:spcPct val="0"/>
              </a:spcBef>
            </a:pPr>
            <a:r>
              <a:rPr lang="he-IL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לימודי רפואה באנגלית באיטליה ומבחן ה </a:t>
            </a:r>
            <a:r>
              <a:rPr lang="en-US" sz="35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IMAT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55942"/>
            <a:ext cx="3128103" cy="3128103"/>
          </a:xfrm>
          <a:custGeom>
            <a:avLst/>
            <a:gdLst/>
            <a:ahLst/>
            <a:cxnLst/>
            <a:rect r="r" b="b" t="t" l="l"/>
            <a:pathLst>
              <a:path h="3128103" w="3128103">
                <a:moveTo>
                  <a:pt x="0" y="0"/>
                </a:moveTo>
                <a:lnTo>
                  <a:pt x="3128103" y="0"/>
                </a:lnTo>
                <a:lnTo>
                  <a:pt x="3128103" y="3128103"/>
                </a:lnTo>
                <a:lnTo>
                  <a:pt x="0" y="3128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041" t="-163786" r="-183776" b="-502638"/>
            </a:stretch>
          </a:blipFill>
          <a:ln w="76200" cap="rnd">
            <a:solidFill>
              <a:srgbClr val="FFDE59"/>
            </a:solidFill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7198402" y="3075291"/>
            <a:ext cx="904168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נולדה באיטליה, עלתה לארץ ב- </a:t>
            </a:r>
            <a:r>
              <a:rPr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1996</a:t>
            </a: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ומתגוררת בחיפה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40083" y="2869509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40083" y="3618025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40083" y="4366540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01757" y="2332591"/>
            <a:ext cx="243832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אמא ל </a:t>
            </a:r>
            <a:r>
              <a:rPr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</a:t>
            </a: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ילדים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36565" y="2128564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40083" y="5102645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40083" y="5862007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40083" y="6630631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796739" y="7649848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23260" y="8316598"/>
            <a:ext cx="3465921" cy="4114800"/>
          </a:xfrm>
          <a:custGeom>
            <a:avLst/>
            <a:gdLst/>
            <a:ahLst/>
            <a:cxnLst/>
            <a:rect r="r" b="b" t="t" l="l"/>
            <a:pathLst>
              <a:path h="4114800" w="3465921">
                <a:moveTo>
                  <a:pt x="0" y="0"/>
                </a:moveTo>
                <a:lnTo>
                  <a:pt x="3465921" y="0"/>
                </a:lnTo>
                <a:lnTo>
                  <a:pt x="34659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370275" y="-1354108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7" y="0"/>
                </a:lnTo>
                <a:lnTo>
                  <a:pt x="496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79356" y="6017221"/>
            <a:ext cx="1826791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39"/>
              </a:lnSpc>
              <a:spcBef>
                <a:spcPct val="0"/>
              </a:spcBef>
            </a:pPr>
            <a:r>
              <a:rPr lang="he-IL" b="true" sz="35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סוזי עמרם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7975" y="6592531"/>
            <a:ext cx="166955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79"/>
              </a:lnSpc>
              <a:spcBef>
                <a:spcPct val="0"/>
              </a:spcBef>
            </a:pPr>
            <a:r>
              <a:rPr lang="he-IL" sz="2199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מייסדת האדמיה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92683" y="3822051"/>
            <a:ext cx="10747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בעלת תואר ראשון בביולוגיה ותעודת הוראה מאוניברסיטת בר אילן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63267" y="4570567"/>
            <a:ext cx="7976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מכינה סטודנטים ללימודים באיטליה משנת </a:t>
            </a:r>
            <a:r>
              <a:rPr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2007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0029" y="5306672"/>
            <a:ext cx="674005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מורה מוסמכת לאיטלקית, ביולוגיה וכימיה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90500" y="914400"/>
            <a:ext cx="39688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מי זאת סוזי?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83621" y="6066034"/>
            <a:ext cx="705646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בעלת הבנה עמוקה בבירוקרטיה האיטלקית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7766" y="6834658"/>
            <a:ext cx="1127231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בעלת קשרים מרובים לגורמים במערכת ההשכלה הגבוהה של איטליה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6565" y="406262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5720" y="3581291"/>
            <a:ext cx="131853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מבחן שפה ברמה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אופי הבחינה משתנה בין אוניברסיטה לאוניברסיטה (מבחן כתוב או מבחן בעל פה)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333916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36565" y="478207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6565" y="550153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36565" y="622098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07957" y="6988066"/>
            <a:ext cx="684696" cy="684696"/>
          </a:xfrm>
          <a:custGeom>
            <a:avLst/>
            <a:gdLst/>
            <a:ahLst/>
            <a:cxnLst/>
            <a:rect r="r" b="b" t="t" l="l"/>
            <a:pathLst>
              <a:path h="684696" w="684696">
                <a:moveTo>
                  <a:pt x="0" y="0"/>
                </a:moveTo>
                <a:lnTo>
                  <a:pt x="684696" y="0"/>
                </a:lnTo>
                <a:lnTo>
                  <a:pt x="684696" y="684696"/>
                </a:lnTo>
                <a:lnTo>
                  <a:pt x="0" y="68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7957" y="7472019"/>
            <a:ext cx="684696" cy="684696"/>
          </a:xfrm>
          <a:custGeom>
            <a:avLst/>
            <a:gdLst/>
            <a:ahLst/>
            <a:cxnLst/>
            <a:rect r="r" b="b" t="t" l="l"/>
            <a:pathLst>
              <a:path h="684696" w="684696">
                <a:moveTo>
                  <a:pt x="0" y="0"/>
                </a:moveTo>
                <a:lnTo>
                  <a:pt x="684696" y="0"/>
                </a:lnTo>
                <a:lnTo>
                  <a:pt x="684696" y="684696"/>
                </a:lnTo>
                <a:lnTo>
                  <a:pt x="0" y="68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36565" y="7872787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6565" y="8592242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807086" y="-2827241"/>
            <a:ext cx="4561131" cy="5026039"/>
          </a:xfrm>
          <a:custGeom>
            <a:avLst/>
            <a:gdLst/>
            <a:ahLst/>
            <a:cxnLst/>
            <a:rect r="r" b="b" t="t" l="l"/>
            <a:pathLst>
              <a:path h="5026039" w="4561131">
                <a:moveTo>
                  <a:pt x="0" y="0"/>
                </a:moveTo>
                <a:lnTo>
                  <a:pt x="4561130" y="0"/>
                </a:lnTo>
                <a:lnTo>
                  <a:pt x="4561130" y="5026039"/>
                </a:lnTo>
                <a:lnTo>
                  <a:pt x="0" y="5026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35503" y="9490132"/>
            <a:ext cx="3304889" cy="2577813"/>
          </a:xfrm>
          <a:custGeom>
            <a:avLst/>
            <a:gdLst/>
            <a:ahLst/>
            <a:cxnLst/>
            <a:rect r="r" b="b" t="t" l="l"/>
            <a:pathLst>
              <a:path h="2577813" w="3304889">
                <a:moveTo>
                  <a:pt x="0" y="0"/>
                </a:moveTo>
                <a:lnTo>
                  <a:pt x="3304889" y="0"/>
                </a:lnTo>
                <a:lnTo>
                  <a:pt x="3304889" y="2577814"/>
                </a:lnTo>
                <a:lnTo>
                  <a:pt x="0" y="2577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939263" y="2132123"/>
            <a:ext cx="1132003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  <a:spcBef>
                <a:spcPct val="0"/>
              </a:spcBef>
            </a:pPr>
            <a:r>
              <a:rPr lang="he-IL" sz="3600" u="sng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רפואת, רפואת שיניים ווטרינריה באיטלקית - הרפורמה החדשה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35709" y="2909515"/>
            <a:ext cx="489979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תעודת בגרות מלאה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21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יחידות לימוד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236565" y="266738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834638" y="8168062"/>
            <a:ext cx="3035082" cy="2928854"/>
          </a:xfrm>
          <a:custGeom>
            <a:avLst/>
            <a:gdLst/>
            <a:ahLst/>
            <a:cxnLst/>
            <a:rect r="r" b="b" t="t" l="l"/>
            <a:pathLst>
              <a:path h="2928854" w="3035082">
                <a:moveTo>
                  <a:pt x="0" y="0"/>
                </a:moveTo>
                <a:lnTo>
                  <a:pt x="3035082" y="0"/>
                </a:lnTo>
                <a:lnTo>
                  <a:pt x="3035082" y="2928854"/>
                </a:lnTo>
                <a:lnTo>
                  <a:pt x="0" y="292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29770" y="914400"/>
            <a:ext cx="1302953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מה הן דרישות הקבלה ללימודים באיטליה?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68074" y="4300746"/>
            <a:ext cx="102674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בחירת אוניברסיטה והרשמה דרך מערכת דיגיטלית (ניתן לעשות רשימת העדפות)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29548" y="5020201"/>
            <a:ext cx="143059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הוצאת אישור לימודים וויזה דרך שגרירות איטליה בארץ וקבלת אישור לתחילת לימודים (הפקת מסמכים רלוונטים)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03594" y="5739656"/>
            <a:ext cx="1063190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התחלת סמסטר ראשון - מעבר קורסים בביולוגיה, כימיה ופיסיקה (ניתן לבצע מרחוק)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71109" y="6459111"/>
            <a:ext cx="1336439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מעבר מבחנים באוניברסיטה בכל אחד משלושת המקצועות בסוף הסמסטר, וכניסה לדירוג בעזרת הציונים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98076" y="7099274"/>
            <a:ext cx="88098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79"/>
              </a:lnSpc>
              <a:spcBef>
                <a:spcPct val="0"/>
              </a:spcBef>
            </a:pPr>
            <a:r>
              <a:rPr lang="he-IL" sz="21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ניתן לבצע כל מבחן פעמיים, הציון שאיתו מדורגים הינו הציון של המבחן האחרון שלקחתם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51104" y="7583227"/>
            <a:ext cx="1315685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079"/>
              </a:lnSpc>
              <a:spcBef>
                <a:spcPct val="0"/>
              </a:spcBef>
            </a:pPr>
            <a:r>
              <a:rPr lang="he-IL" sz="21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הציון המשוכלל של כלל המבחנים קובע את הציון שאיתו נכנסים לדירוג אל מול סטודנטים זרים אחרים (סטודנטים ללא דרכון אירופאי)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67191" y="8110912"/>
            <a:ext cx="1256831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במידה ודורגתם במקומות העליונים בהתאם לכמות המקומות באוניברסיטה, ממשיכים לסמסטר שני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79817" y="8830367"/>
            <a:ext cx="1275568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במידה ולא דורגתם גבוה מספיק, הציון שלכם יאפשר לכם להתמודד בשאר האוניברסיטאות שבחרתם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6565" y="406262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2767" y="3581291"/>
            <a:ext cx="1525830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אין צורך במבחן שפה באיטלקית על מנת להתקבל, אך יש צורך להשלים מבחן שפה באיטלקית ברמה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B1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עד שנה שלישית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333916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36565" y="6413224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6565" y="479472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36565" y="5608044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07086" y="-2827241"/>
            <a:ext cx="4561131" cy="5026039"/>
          </a:xfrm>
          <a:custGeom>
            <a:avLst/>
            <a:gdLst/>
            <a:ahLst/>
            <a:cxnLst/>
            <a:rect r="r" b="b" t="t" l="l"/>
            <a:pathLst>
              <a:path h="5026039" w="4561131">
                <a:moveTo>
                  <a:pt x="0" y="0"/>
                </a:moveTo>
                <a:lnTo>
                  <a:pt x="4561130" y="0"/>
                </a:lnTo>
                <a:lnTo>
                  <a:pt x="4561130" y="5026039"/>
                </a:lnTo>
                <a:lnTo>
                  <a:pt x="0" y="5026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26213" y="8519103"/>
            <a:ext cx="3304889" cy="2577813"/>
          </a:xfrm>
          <a:custGeom>
            <a:avLst/>
            <a:gdLst/>
            <a:ahLst/>
            <a:cxnLst/>
            <a:rect r="r" b="b" t="t" l="l"/>
            <a:pathLst>
              <a:path h="2577813" w="3304889">
                <a:moveTo>
                  <a:pt x="0" y="0"/>
                </a:moveTo>
                <a:lnTo>
                  <a:pt x="3304889" y="0"/>
                </a:lnTo>
                <a:lnTo>
                  <a:pt x="3304889" y="2577813"/>
                </a:lnTo>
                <a:lnTo>
                  <a:pt x="0" y="2577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31197" y="2132123"/>
            <a:ext cx="90281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  <a:spcBef>
                <a:spcPct val="0"/>
              </a:spcBef>
            </a:pPr>
            <a:r>
              <a:rPr lang="he-IL" sz="3600" u="sng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רפואה באנגלית - </a:t>
            </a:r>
            <a:r>
              <a:rPr lang="en-US" sz="3600" u="sng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IMAT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35635" y="2909515"/>
            <a:ext cx="489986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תעודת בגרות מלאה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21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יחידות לימוד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36565" y="266738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834638" y="8168062"/>
            <a:ext cx="3035082" cy="2928854"/>
          </a:xfrm>
          <a:custGeom>
            <a:avLst/>
            <a:gdLst/>
            <a:ahLst/>
            <a:cxnLst/>
            <a:rect r="r" b="b" t="t" l="l"/>
            <a:pathLst>
              <a:path h="2928854" w="3035082">
                <a:moveTo>
                  <a:pt x="0" y="0"/>
                </a:moveTo>
                <a:lnTo>
                  <a:pt x="3035082" y="0"/>
                </a:lnTo>
                <a:lnTo>
                  <a:pt x="3035082" y="2928854"/>
                </a:lnTo>
                <a:lnTo>
                  <a:pt x="0" y="292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9770" y="914400"/>
            <a:ext cx="1302953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מה הן דרישות הקבלה ללימודים באיטליה?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3598" y="4300746"/>
            <a:ext cx="643190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בחירת אוניברסיטה והרשמה דרך מערכת דיגיטלית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29548" y="6651349"/>
            <a:ext cx="143059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הוצאת אישור לימודים וויזה דרך שגרירות איטליה בארץ וקבלת אישור לתחילת לימודים (הפקת מסמכים רלוונטים)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64937" y="5032848"/>
            <a:ext cx="917056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מעבר מבחן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IMAT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במקצועות ביולוגיה, כימיה, מתמטיקה, פיזיקה ולוגיקה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5377" y="5846169"/>
            <a:ext cx="70801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קבלת ציון וכניסה לדירוג אל מול מתמודדים זרים אחרים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6565" y="406262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5720" y="3581291"/>
            <a:ext cx="131853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מבחן שפה ברמה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אופי הבחינה משתנה בין אוניברסיטה לאוניברסיטה (מבחן כתוב או מבחן בעל פה)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333916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36565" y="478207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6565" y="550153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36565" y="622098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208982" y="8229600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31197" y="2132123"/>
            <a:ext cx="90281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  <a:spcBef>
                <a:spcPct val="0"/>
              </a:spcBef>
            </a:pPr>
            <a:r>
              <a:rPr lang="he-IL" sz="3600" u="sng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פיזיותרפיה \ תרפיה בעיסוק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443888" y="-955266"/>
            <a:ext cx="2866424" cy="3622653"/>
          </a:xfrm>
          <a:custGeom>
            <a:avLst/>
            <a:gdLst/>
            <a:ahLst/>
            <a:cxnLst/>
            <a:rect r="r" b="b" t="t" l="l"/>
            <a:pathLst>
              <a:path h="3622653" w="2866424">
                <a:moveTo>
                  <a:pt x="0" y="0"/>
                </a:moveTo>
                <a:lnTo>
                  <a:pt x="2866425" y="0"/>
                </a:lnTo>
                <a:lnTo>
                  <a:pt x="2866425" y="3622654"/>
                </a:lnTo>
                <a:lnTo>
                  <a:pt x="0" y="3622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35709" y="2909515"/>
            <a:ext cx="489979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תעודת בגרות מלאה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21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יחידות לימוד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36565" y="266738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56299" y="8139071"/>
            <a:ext cx="3662997" cy="4114800"/>
          </a:xfrm>
          <a:custGeom>
            <a:avLst/>
            <a:gdLst/>
            <a:ahLst/>
            <a:cxnLst/>
            <a:rect r="r" b="b" t="t" l="l"/>
            <a:pathLst>
              <a:path h="4114800" w="3662997">
                <a:moveTo>
                  <a:pt x="0" y="0"/>
                </a:moveTo>
                <a:lnTo>
                  <a:pt x="3662997" y="0"/>
                </a:lnTo>
                <a:lnTo>
                  <a:pt x="366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9770" y="914400"/>
            <a:ext cx="1302953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מה הן דרישות הקבלה ללימודים באיטליה?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8074" y="4300746"/>
            <a:ext cx="102674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בחירת אוניברסיטה והרשמה דרך מערכת דיגיטלית (ניתן לעשות רשימת העדפות)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73479" y="5020201"/>
            <a:ext cx="122620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מעבר מבחן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Professionista Sanitaria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ביולוגיה, כימיה, פיזיקה, לוגיקה ומתמטיקה (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שאלות)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3824" y="5739656"/>
            <a:ext cx="116516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קבלת ציון סופי וכניסה לדירוג אל מול סטודנטים זרים אחרים (סטודנטים ללא דרכון אירופאי)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45425" y="6459111"/>
            <a:ext cx="128900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במידה ודורגתם במקומות העליונים בהתאם לכמות המקומות באוניברסיטה, מתחילים ללמוד באיטליה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6565" y="406262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5720" y="3581291"/>
            <a:ext cx="131853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מבחן שפה ברמה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אופי הבחינה משתנה בין אוניברסיטה לאוניברסיטה (מבחן כתוב או מבחן בעל פה)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333916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36565" y="478207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6565" y="550153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36565" y="622098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35503" y="9490132"/>
            <a:ext cx="3304889" cy="2577813"/>
          </a:xfrm>
          <a:custGeom>
            <a:avLst/>
            <a:gdLst/>
            <a:ahLst/>
            <a:cxnLst/>
            <a:rect r="r" b="b" t="t" l="l"/>
            <a:pathLst>
              <a:path h="2577813" w="3304889">
                <a:moveTo>
                  <a:pt x="0" y="0"/>
                </a:moveTo>
                <a:lnTo>
                  <a:pt x="3304889" y="0"/>
                </a:lnTo>
                <a:lnTo>
                  <a:pt x="3304889" y="2577814"/>
                </a:lnTo>
                <a:lnTo>
                  <a:pt x="0" y="2577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31197" y="2132123"/>
            <a:ext cx="90281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  <a:spcBef>
                <a:spcPct val="0"/>
              </a:spcBef>
            </a:pPr>
            <a:r>
              <a:rPr lang="he-IL" sz="3600" u="sng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אדריכלות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188824" y="-1247249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35709" y="2909515"/>
            <a:ext cx="489979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תעודת בגרות מלאה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21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יחידות לימוד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36565" y="266738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027586" y="7714652"/>
            <a:ext cx="5801788" cy="5569716"/>
          </a:xfrm>
          <a:custGeom>
            <a:avLst/>
            <a:gdLst/>
            <a:ahLst/>
            <a:cxnLst/>
            <a:rect r="r" b="b" t="t" l="l"/>
            <a:pathLst>
              <a:path h="5569716" w="5801788">
                <a:moveTo>
                  <a:pt x="0" y="0"/>
                </a:moveTo>
                <a:lnTo>
                  <a:pt x="5801788" y="0"/>
                </a:lnTo>
                <a:lnTo>
                  <a:pt x="5801788" y="5569716"/>
                </a:lnTo>
                <a:lnTo>
                  <a:pt x="0" y="55697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29770" y="914400"/>
            <a:ext cx="1302953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מה הן דרישות הקבלה ללימודים באיטליה?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8074" y="4300746"/>
            <a:ext cx="102674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בחירת אוניברסיטה והרשמה דרך מערכת דיגיטלית (ניתן לעשות רשימת העדפות)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91523" y="5020201"/>
            <a:ext cx="137439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מעבר מבחן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TOLC-ARCHED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הבנת הנקרא, תולדות האומנות, ציור, לוגיקה,  מתמטיקה, פיזיקה (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שאלות)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3824" y="5739656"/>
            <a:ext cx="116516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קבלת ציון סופי וכניסה לדירוג אל מול סטודנטים זרים אחרים (סטודנטים ללא דרכון אירופאי)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45425" y="6459111"/>
            <a:ext cx="128900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במידה ודורגתם במקומות העליונים בהתאם לכמות המקומות באוניברסיטה, מתחילים ללמוד באיטליה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8982" y="8229600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26089" y="-1642634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3" y="0"/>
                </a:lnTo>
                <a:lnTo>
                  <a:pt x="39801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3620" y="7919996"/>
            <a:ext cx="5381985" cy="5272233"/>
          </a:xfrm>
          <a:custGeom>
            <a:avLst/>
            <a:gdLst/>
            <a:ahLst/>
            <a:cxnLst/>
            <a:rect r="r" b="b" t="t" l="l"/>
            <a:pathLst>
              <a:path h="5272233" w="5381985">
                <a:moveTo>
                  <a:pt x="0" y="0"/>
                </a:moveTo>
                <a:lnTo>
                  <a:pt x="5381985" y="0"/>
                </a:lnTo>
                <a:lnTo>
                  <a:pt x="5381985" y="5272233"/>
                </a:lnTo>
                <a:lnTo>
                  <a:pt x="0" y="5272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29770" y="914400"/>
            <a:ext cx="1302953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מה הן דרישות הקבלה ללימודים באיטליה?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8915" y="2137430"/>
            <a:ext cx="1319038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לכל שאר המקצועות, ניתן לפנות אלינו לקבלת מידע מפורט על תהליך הקבלה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36565" y="414607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96050" y="3664742"/>
            <a:ext cx="13750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פסיכולוגיה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236565" y="3422615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6565" y="486552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36565" y="558498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49293" y="2992967"/>
            <a:ext cx="158621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עיצוב אופנה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6565" y="2750840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665824" y="4384198"/>
            <a:ext cx="266967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כלכלה ומנהל עסקים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02250" y="5103653"/>
            <a:ext cx="23332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מקצועות ההנדסה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41306" y="5823108"/>
            <a:ext cx="17941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יינות וחקלאות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236565" y="630443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397514" y="6542563"/>
            <a:ext cx="93798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רוקחות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63067" y="2141432"/>
            <a:ext cx="379623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40"/>
              </a:lnSpc>
              <a:spcBef>
                <a:spcPct val="0"/>
              </a:spcBef>
            </a:pPr>
            <a:r>
              <a:rPr lang="he-IL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איטלקית רמה </a:t>
            </a:r>
            <a:r>
              <a:rPr lang="en-US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</a:rPr>
              <a:t>B2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93823" y="2992967"/>
            <a:ext cx="84416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המכין אתכם לרמה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למבחני הכניסה למקצועות הרלוונטים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2750840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7933" y="3716425"/>
            <a:ext cx="1387911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אורך הקורס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350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 שעות אקדמאיות, בין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3-4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פעמים בשבוע, אורך מפגש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שעות, כיתות עד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תלמידים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6565" y="3474297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13233" y="4387090"/>
            <a:ext cx="9941431" cy="3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78"/>
              </a:lnSpc>
              <a:spcBef>
                <a:spcPct val="0"/>
              </a:spcBef>
            </a:pPr>
            <a:r>
              <a:rPr lang="he-IL" sz="212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במידה וקיים ביקוש רב, עשוי להיפתח קורס ערב בעל כמות שונה של מפגשים שבועיים ושעות פרק מפגש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793501" y="4197755"/>
            <a:ext cx="777223" cy="777223"/>
          </a:xfrm>
          <a:custGeom>
            <a:avLst/>
            <a:gdLst/>
            <a:ahLst/>
            <a:cxnLst/>
            <a:rect r="r" b="b" t="t" l="l"/>
            <a:pathLst>
              <a:path h="777223" w="777223">
                <a:moveTo>
                  <a:pt x="0" y="0"/>
                </a:moveTo>
                <a:lnTo>
                  <a:pt x="777223" y="0"/>
                </a:lnTo>
                <a:lnTo>
                  <a:pt x="777223" y="777223"/>
                </a:lnTo>
                <a:lnTo>
                  <a:pt x="0" y="777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538305"/>
            <a:ext cx="152883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לימוד של זמנים בסיסיים ומתקדמים, תרגולים בכיתה דרך פעילויות קבוצתיות ואינטראקציה תמידית בין המורה לתלמיד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236565" y="5296177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0684" y="6337963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תרגול נרחב של קריאה, כתיבה, דיבור ושמיעה דרך אמצעים דיגיטליים שונים, ספרים, דיונים בכיתה ושיעורי בית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236565" y="6095835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0684" y="7137620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ביצוע ובדיקת סימולציות של מבחני שפה משנים קודמות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6565" y="689549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46541" y="-2503874"/>
            <a:ext cx="3546850" cy="5007749"/>
          </a:xfrm>
          <a:custGeom>
            <a:avLst/>
            <a:gdLst/>
            <a:ahLst/>
            <a:cxnLst/>
            <a:rect r="r" b="b" t="t" l="l"/>
            <a:pathLst>
              <a:path h="5007749" w="3546850">
                <a:moveTo>
                  <a:pt x="0" y="0"/>
                </a:moveTo>
                <a:lnTo>
                  <a:pt x="3546850" y="0"/>
                </a:lnTo>
                <a:lnTo>
                  <a:pt x="3546850" y="5007748"/>
                </a:lnTo>
                <a:lnTo>
                  <a:pt x="0" y="5007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594636" y="7593783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39" y="0"/>
                </a:lnTo>
                <a:lnTo>
                  <a:pt x="4243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55865" y="9150390"/>
            <a:ext cx="4437726" cy="4337878"/>
          </a:xfrm>
          <a:custGeom>
            <a:avLst/>
            <a:gdLst/>
            <a:ahLst/>
            <a:cxnLst/>
            <a:rect r="r" b="b" t="t" l="l"/>
            <a:pathLst>
              <a:path h="4337878" w="4437726">
                <a:moveTo>
                  <a:pt x="0" y="0"/>
                </a:moveTo>
                <a:lnTo>
                  <a:pt x="4437726" y="0"/>
                </a:lnTo>
                <a:lnTo>
                  <a:pt x="4437726" y="4337878"/>
                </a:lnTo>
                <a:lnTo>
                  <a:pt x="0" y="433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997229" y="914400"/>
            <a:ext cx="1026207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אז איך עובדת המכינה - איטלקית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82774" y="4936400"/>
            <a:ext cx="10773394" cy="35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72"/>
              </a:lnSpc>
              <a:spcBef>
                <a:spcPct val="0"/>
              </a:spcBef>
            </a:pPr>
            <a:r>
              <a:rPr lang="he-IL" sz="212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ניתן לבצע קורס שפה עד רמה </a:t>
            </a:r>
            <a:r>
              <a:rPr lang="en-US" sz="212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B1</a:t>
            </a:r>
            <a:r>
              <a:rPr lang="he-IL" sz="212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בהתאם לדרישות של התלמיד (מחיר מותאם)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795133" y="4747543"/>
            <a:ext cx="775591" cy="775591"/>
          </a:xfrm>
          <a:custGeom>
            <a:avLst/>
            <a:gdLst/>
            <a:ahLst/>
            <a:cxnLst/>
            <a:rect r="r" b="b" t="t" l="l"/>
            <a:pathLst>
              <a:path h="775591" w="775591">
                <a:moveTo>
                  <a:pt x="0" y="0"/>
                </a:moveTo>
                <a:lnTo>
                  <a:pt x="775591" y="0"/>
                </a:lnTo>
                <a:lnTo>
                  <a:pt x="775591" y="775591"/>
                </a:lnTo>
                <a:lnTo>
                  <a:pt x="0" y="775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10684" y="7861078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עלות הקורס איטלקית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13,000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שקלים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565" y="7618950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07779" y="2141432"/>
            <a:ext cx="205152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</a:pPr>
            <a:r>
              <a:rPr lang="he-IL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מדעים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9386" y="2992967"/>
            <a:ext cx="798611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המכין אתכם למבחני הכניסה\הסמסטר הראשון בלימודים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36565" y="2750840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35703" y="3716425"/>
            <a:ext cx="108813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אורך הקורס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240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 שעות אקדמאיות, בין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3-4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פעמים בשבוע, אורך מפגש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6565" y="3474297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90468" y="4387090"/>
            <a:ext cx="13464197" cy="3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78"/>
              </a:lnSpc>
              <a:spcBef>
                <a:spcPct val="0"/>
              </a:spcBef>
            </a:pPr>
            <a:r>
              <a:rPr lang="he-IL" sz="2127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המדעים מותאם לכל מקצוע, במידה ורק חלק מהמקצעות נדרשים, המחיר יתואם מראש. בנוסף נוכל לספק חומרים דיגיטליים לפי צורך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793501" y="4197755"/>
            <a:ext cx="777223" cy="777223"/>
          </a:xfrm>
          <a:custGeom>
            <a:avLst/>
            <a:gdLst/>
            <a:ahLst/>
            <a:cxnLst/>
            <a:rect r="r" b="b" t="t" l="l"/>
            <a:pathLst>
              <a:path h="777223" w="777223">
                <a:moveTo>
                  <a:pt x="0" y="0"/>
                </a:moveTo>
                <a:lnTo>
                  <a:pt x="777223" y="0"/>
                </a:lnTo>
                <a:lnTo>
                  <a:pt x="777223" y="777223"/>
                </a:lnTo>
                <a:lnTo>
                  <a:pt x="0" y="777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989671"/>
            <a:ext cx="152883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לימודים מעמיקים בביולוגיה, כימיה ופיסיקה בהתאם לחומר הנדרש למבחני הכניסה\הסמסטר הראשון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236565" y="474754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0684" y="5789329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תרגול של החומר, ביצוע ובדיקת סימולציות של מבחני כניסה משנים קודמות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236565" y="554720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10684" y="6588986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שיעורים פרטיים לחיזוק ותרגול ללא תוספת תשלום ותמיכה מלאה דרך קבוצת ווטסאפ פעילה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36565" y="6346859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01486" y="-5551400"/>
            <a:ext cx="8651353" cy="8229600"/>
          </a:xfrm>
          <a:custGeom>
            <a:avLst/>
            <a:gdLst/>
            <a:ahLst/>
            <a:cxnLst/>
            <a:rect r="r" b="b" t="t" l="l"/>
            <a:pathLst>
              <a:path h="8229600" w="8651353">
                <a:moveTo>
                  <a:pt x="0" y="0"/>
                </a:moveTo>
                <a:lnTo>
                  <a:pt x="8651354" y="0"/>
                </a:lnTo>
                <a:lnTo>
                  <a:pt x="86513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121520" y="8169252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40" y="0"/>
                </a:lnTo>
                <a:lnTo>
                  <a:pt x="42430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140178" y="9140802"/>
            <a:ext cx="5215509" cy="8229600"/>
          </a:xfrm>
          <a:custGeom>
            <a:avLst/>
            <a:gdLst/>
            <a:ahLst/>
            <a:cxnLst/>
            <a:rect r="r" b="b" t="t" l="l"/>
            <a:pathLst>
              <a:path h="8229600" w="5215509">
                <a:moveTo>
                  <a:pt x="0" y="0"/>
                </a:moveTo>
                <a:lnTo>
                  <a:pt x="5215509" y="0"/>
                </a:lnTo>
                <a:lnTo>
                  <a:pt x="52155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997229" y="914400"/>
            <a:ext cx="1026207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אז איך עובדת המכינה - איטלקית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21520" y="7312444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עלות הקורס מדעים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12,000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שקלים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47400" y="707031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3353" y="2446232"/>
            <a:ext cx="85121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הקורס בנוי מ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72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מפגשים בעלי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 כל מפגש - סה”כ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288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36565" y="2204105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46541" y="-2503874"/>
            <a:ext cx="3546850" cy="5007749"/>
          </a:xfrm>
          <a:custGeom>
            <a:avLst/>
            <a:gdLst/>
            <a:ahLst/>
            <a:cxnLst/>
            <a:rect r="r" b="b" t="t" l="l"/>
            <a:pathLst>
              <a:path h="5007749" w="3546850">
                <a:moveTo>
                  <a:pt x="0" y="0"/>
                </a:moveTo>
                <a:lnTo>
                  <a:pt x="3546850" y="0"/>
                </a:lnTo>
                <a:lnTo>
                  <a:pt x="3546850" y="5007748"/>
                </a:lnTo>
                <a:lnTo>
                  <a:pt x="0" y="5007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94636" y="7593783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39" y="0"/>
                </a:lnTo>
                <a:lnTo>
                  <a:pt x="4243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59150" y="8603501"/>
            <a:ext cx="4057701" cy="3966403"/>
          </a:xfrm>
          <a:custGeom>
            <a:avLst/>
            <a:gdLst/>
            <a:ahLst/>
            <a:cxnLst/>
            <a:rect r="r" b="b" t="t" l="l"/>
            <a:pathLst>
              <a:path h="3966403" w="4057701">
                <a:moveTo>
                  <a:pt x="0" y="0"/>
                </a:moveTo>
                <a:lnTo>
                  <a:pt x="4057700" y="0"/>
                </a:lnTo>
                <a:lnTo>
                  <a:pt x="4057700" y="3966403"/>
                </a:lnTo>
                <a:lnTo>
                  <a:pt x="0" y="39664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91190" y="914400"/>
            <a:ext cx="916811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אז איך עובדת המכינה - </a:t>
            </a:r>
            <a:r>
              <a:rPr lang="en-US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IMAT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30010" y="3065444"/>
            <a:ext cx="23816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ביולוגיה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92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612045" y="2972955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8"/>
                </a:lnTo>
                <a:lnTo>
                  <a:pt x="0" y="7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95296" y="3639263"/>
            <a:ext cx="211641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כימיה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76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612045" y="3546774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8"/>
                </a:lnTo>
                <a:lnTo>
                  <a:pt x="0" y="7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20298" y="4213082"/>
            <a:ext cx="269140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מתמטיקה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612045" y="4120593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7"/>
                </a:lnTo>
                <a:lnTo>
                  <a:pt x="0" y="723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65000" y="3065444"/>
            <a:ext cx="224976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פיזיקה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715100" y="2972955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8"/>
                </a:lnTo>
                <a:lnTo>
                  <a:pt x="0" y="7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284199" y="3639263"/>
            <a:ext cx="22305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לוגיקה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715100" y="3546774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8"/>
                </a:lnTo>
                <a:lnTo>
                  <a:pt x="0" y="7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68734" y="4836209"/>
            <a:ext cx="736676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סימולציות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IMAT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מפגשים ייעודיים בנוסף לשעות הלמידה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236565" y="4594082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36565" y="530541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373800" y="5545860"/>
            <a:ext cx="19617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תאריכי המכינה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612045" y="5990533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8" y="0"/>
                </a:lnTo>
                <a:lnTo>
                  <a:pt x="723458" y="723458"/>
                </a:lnTo>
                <a:lnTo>
                  <a:pt x="0" y="723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550103" y="6076258"/>
            <a:ext cx="50619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תלת שבועי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04.01.2025</a:t>
            </a:r>
            <a:r>
              <a:rPr lang="ar-EG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05.03.2025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657236" y="6612699"/>
            <a:ext cx="723458" cy="723458"/>
          </a:xfrm>
          <a:custGeom>
            <a:avLst/>
            <a:gdLst/>
            <a:ahLst/>
            <a:cxnLst/>
            <a:rect r="r" b="b" t="t" l="l"/>
            <a:pathLst>
              <a:path h="723458" w="723458">
                <a:moveTo>
                  <a:pt x="0" y="0"/>
                </a:moveTo>
                <a:lnTo>
                  <a:pt x="723457" y="0"/>
                </a:lnTo>
                <a:lnTo>
                  <a:pt x="723457" y="723457"/>
                </a:lnTo>
                <a:lnTo>
                  <a:pt x="0" y="723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909990" y="6698424"/>
            <a:ext cx="47472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דו שבועי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08.03.2025</a:t>
            </a:r>
            <a:r>
              <a:rPr lang="ar-EG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27.08.2025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565" y="712356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558841" y="7364010"/>
            <a:ext cx="377666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עלות הקורס 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15,000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שקלים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46541" y="-2503874"/>
            <a:ext cx="3546850" cy="5007749"/>
          </a:xfrm>
          <a:custGeom>
            <a:avLst/>
            <a:gdLst/>
            <a:ahLst/>
            <a:cxnLst/>
            <a:rect r="r" b="b" t="t" l="l"/>
            <a:pathLst>
              <a:path h="5007749" w="3546850">
                <a:moveTo>
                  <a:pt x="0" y="0"/>
                </a:moveTo>
                <a:lnTo>
                  <a:pt x="3546850" y="0"/>
                </a:lnTo>
                <a:lnTo>
                  <a:pt x="3546850" y="5007748"/>
                </a:lnTo>
                <a:lnTo>
                  <a:pt x="0" y="5007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94636" y="7593783"/>
            <a:ext cx="4243039" cy="4114800"/>
          </a:xfrm>
          <a:custGeom>
            <a:avLst/>
            <a:gdLst/>
            <a:ahLst/>
            <a:cxnLst/>
            <a:rect r="r" b="b" t="t" l="l"/>
            <a:pathLst>
              <a:path h="4114800" w="4243039">
                <a:moveTo>
                  <a:pt x="0" y="0"/>
                </a:moveTo>
                <a:lnTo>
                  <a:pt x="4243039" y="0"/>
                </a:lnTo>
                <a:lnTo>
                  <a:pt x="42430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55865" y="9150390"/>
            <a:ext cx="4437726" cy="4337878"/>
          </a:xfrm>
          <a:custGeom>
            <a:avLst/>
            <a:gdLst/>
            <a:ahLst/>
            <a:cxnLst/>
            <a:rect r="r" b="b" t="t" l="l"/>
            <a:pathLst>
              <a:path h="4337878" w="4437726">
                <a:moveTo>
                  <a:pt x="0" y="0"/>
                </a:moveTo>
                <a:lnTo>
                  <a:pt x="4437726" y="0"/>
                </a:lnTo>
                <a:lnTo>
                  <a:pt x="4437726" y="4337878"/>
                </a:lnTo>
                <a:lnTo>
                  <a:pt x="0" y="43378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30042" y="914400"/>
            <a:ext cx="1382925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אופציונלי - קורס איטלקית ללמודים באנגלית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55229" y="2141432"/>
            <a:ext cx="280407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</a:pPr>
            <a:r>
              <a:rPr lang="he-IL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עד רמה </a:t>
            </a:r>
            <a:r>
              <a:rPr lang="en-US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</a:rPr>
              <a:t>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37938" y="2996970"/>
            <a:ext cx="849756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הקורס בנוי מ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38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מפגשים בעלי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 כל מפגש - סה”כ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152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36565" y="2754842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34179" y="3720427"/>
            <a:ext cx="94013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הקורס יתבצע בין 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15.03-2025</a:t>
            </a:r>
            <a:r>
              <a:rPr lang="ar-EG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22.07.2025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במתכונת חד או דו שבועית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36565" y="3478300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29431" y="4443885"/>
            <a:ext cx="94960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עלות הקורס המקורית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6500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ש”ח, למי שלוקח קורס באנגלית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5000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ש”ח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26546" y="420175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56989" y="5157818"/>
            <a:ext cx="381773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040"/>
              </a:lnSpc>
            </a:pPr>
            <a:r>
              <a:rPr lang="he-IL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קורס השלמה לרמה </a:t>
            </a:r>
            <a:r>
              <a:rPr lang="en-US" sz="3600" u="sng">
                <a:solidFill>
                  <a:srgbClr val="FFFDFE"/>
                </a:solidFill>
                <a:latin typeface="Assistant"/>
                <a:ea typeface="Assistant"/>
                <a:cs typeface="Assistant"/>
                <a:sym typeface="Assistant"/>
              </a:rPr>
              <a:t>B1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74575" y="6009353"/>
            <a:ext cx="816619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ההשלמה בנוי מ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19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מפגשים נוספים בני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4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 - סה”כ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76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שעות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98791" y="6732810"/>
            <a:ext cx="138419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הקורס יתבצע בין אוגוסט לאוקטובר עם הפסקה במהלך ספטמבר על מנת לאפשר הכנה יעילה למבחן ה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IMAT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39450" y="7452266"/>
            <a:ext cx="94960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עלות הקורס המקורית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3250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ש”ח, למי שלוקח קורס באנגלית -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2500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ש”ח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246584" y="5771228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46584" y="6494685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36565" y="721814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73161" y="2446232"/>
            <a:ext cx="82623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ליווי מלא בהרשמה ובהוצאת המסמכים הנדרשים בכל שלב בדרך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36565" y="2204105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68560" y="3169690"/>
            <a:ext cx="754848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הרשמה דרך אתר </a:t>
            </a:r>
            <a:r>
              <a:rPr lang="en-US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Universitaly</a:t>
            </a: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לאוניברסיטה שבה בחרתם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36565" y="2927562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52751"/>
            <a:ext cx="152883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הרשמה למבחני שפה ועדכון פרטים רלוונטים במערכות ההרשמה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36565" y="3710623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10684" y="4752409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הוצאת מסמכים נדרשים והגשת בקשה לויזת סטודנט בשגרירות האיטלקית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36565" y="4510281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10684" y="5552066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מתן ייעוץ בכל הנוגע למלגות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36565" y="5309939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5"/>
                </a:lnTo>
                <a:lnTo>
                  <a:pt x="0" y="102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10684" y="6351724"/>
            <a:ext cx="1420636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19"/>
              </a:lnSpc>
              <a:spcBef>
                <a:spcPct val="0"/>
              </a:spcBef>
            </a:pPr>
            <a:r>
              <a:rPr lang="he-IL" sz="2799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מתן ייעוץ וליווי מלא בהתנהלות מול האוניברסיטאות והגורמים הרלוונטים במידת הצורך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36565" y="6109596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234471" y="-2696584"/>
            <a:ext cx="8651353" cy="8229600"/>
          </a:xfrm>
          <a:custGeom>
            <a:avLst/>
            <a:gdLst/>
            <a:ahLst/>
            <a:cxnLst/>
            <a:rect r="r" b="b" t="t" l="l"/>
            <a:pathLst>
              <a:path h="8229600" w="8651353">
                <a:moveTo>
                  <a:pt x="0" y="0"/>
                </a:moveTo>
                <a:lnTo>
                  <a:pt x="8651354" y="0"/>
                </a:lnTo>
                <a:lnTo>
                  <a:pt x="86513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948238" y="8004629"/>
            <a:ext cx="9365121" cy="8229600"/>
          </a:xfrm>
          <a:custGeom>
            <a:avLst/>
            <a:gdLst/>
            <a:ahLst/>
            <a:cxnLst/>
            <a:rect r="r" b="b" t="t" l="l"/>
            <a:pathLst>
              <a:path h="8229600" w="9365121">
                <a:moveTo>
                  <a:pt x="0" y="0"/>
                </a:moveTo>
                <a:lnTo>
                  <a:pt x="9365121" y="0"/>
                </a:lnTo>
                <a:lnTo>
                  <a:pt x="936512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26044" y="914400"/>
            <a:ext cx="593325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התהליך הבירוקרטי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264882" y="8091286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2776" y="3075291"/>
            <a:ext cx="1166730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עלויות מחיה זולות - תלוי אזור באיטליה, אבל נמוך יותר מישראל בודאות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40083" y="2869509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40083" y="3551350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75941" y="2332591"/>
            <a:ext cx="101641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שכר לימוד זול הנע בין </a:t>
            </a:r>
            <a:r>
              <a:rPr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160-2500</a:t>
            </a: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יורו בשנה (תלוי אוניברסיטה)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6565" y="2128564"/>
            <a:ext cx="1022735" cy="1022735"/>
          </a:xfrm>
          <a:custGeom>
            <a:avLst/>
            <a:gdLst/>
            <a:ahLst/>
            <a:cxnLst/>
            <a:rect r="r" b="b" t="t" l="l"/>
            <a:pathLst>
              <a:path h="1022735" w="1022735">
                <a:moveTo>
                  <a:pt x="0" y="0"/>
                </a:moveTo>
                <a:lnTo>
                  <a:pt x="1022735" y="0"/>
                </a:lnTo>
                <a:lnTo>
                  <a:pt x="1022735" y="1022736"/>
                </a:lnTo>
                <a:lnTo>
                  <a:pt x="0" y="102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40083" y="4287454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8"/>
                </a:lnTo>
                <a:lnTo>
                  <a:pt x="0" y="10192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40083" y="5046817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40083" y="5815441"/>
            <a:ext cx="1019217" cy="1019217"/>
          </a:xfrm>
          <a:custGeom>
            <a:avLst/>
            <a:gdLst/>
            <a:ahLst/>
            <a:cxnLst/>
            <a:rect r="r" b="b" t="t" l="l"/>
            <a:pathLst>
              <a:path h="1019217" w="1019217">
                <a:moveTo>
                  <a:pt x="0" y="0"/>
                </a:moveTo>
                <a:lnTo>
                  <a:pt x="1019217" y="0"/>
                </a:lnTo>
                <a:lnTo>
                  <a:pt x="1019217" y="1019217"/>
                </a:lnTo>
                <a:lnTo>
                  <a:pt x="0" y="101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796739" y="7649848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6" y="0"/>
                </a:lnTo>
                <a:lnTo>
                  <a:pt x="4963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23260" y="8316598"/>
            <a:ext cx="3465921" cy="4114800"/>
          </a:xfrm>
          <a:custGeom>
            <a:avLst/>
            <a:gdLst/>
            <a:ahLst/>
            <a:cxnLst/>
            <a:rect r="r" b="b" t="t" l="l"/>
            <a:pathLst>
              <a:path h="4114800" w="3465921">
                <a:moveTo>
                  <a:pt x="0" y="0"/>
                </a:moveTo>
                <a:lnTo>
                  <a:pt x="3465921" y="0"/>
                </a:lnTo>
                <a:lnTo>
                  <a:pt x="34659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370275" y="-1354108"/>
            <a:ext cx="4963026" cy="4114800"/>
          </a:xfrm>
          <a:custGeom>
            <a:avLst/>
            <a:gdLst/>
            <a:ahLst/>
            <a:cxnLst/>
            <a:rect r="r" b="b" t="t" l="l"/>
            <a:pathLst>
              <a:path h="4114800" w="4963026">
                <a:moveTo>
                  <a:pt x="0" y="0"/>
                </a:moveTo>
                <a:lnTo>
                  <a:pt x="4963027" y="0"/>
                </a:lnTo>
                <a:lnTo>
                  <a:pt x="4963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199423" y="3755376"/>
            <a:ext cx="50406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קהילות ישראליות בערים שונות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2429" y="4491481"/>
            <a:ext cx="718765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החוויה האיטלקית - החלום של לגור באיטליה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64191" y="914400"/>
            <a:ext cx="849510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959"/>
              </a:lnSpc>
              <a:spcBef>
                <a:spcPct val="0"/>
              </a:spcBef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למה כדאי ללמוד באיטליה?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5763" y="5250843"/>
            <a:ext cx="8014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אוניברסיטאות ברמה גבוהה ובעלות שם בין לאומי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14870" y="6019467"/>
            <a:ext cx="11225212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5040"/>
              </a:lnSpc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יש אפשרות לבצע סבבים קליניים בארץ \ להתמיין לתכניות המיועדות</a:t>
            </a:r>
          </a:p>
          <a:p>
            <a:pPr algn="just" rtl="true">
              <a:lnSpc>
                <a:spcPts val="5040"/>
              </a:lnSpc>
              <a:spcBef>
                <a:spcPct val="0"/>
              </a:spcBef>
            </a:pPr>
            <a:r>
              <a:rPr lang="he-IL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  <a:rtl val="true"/>
              </a:rPr>
              <a:t> לסטודנטים מחוץ לישראל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26692" y="-355552"/>
            <a:ext cx="2559656" cy="2559656"/>
          </a:xfrm>
          <a:custGeom>
            <a:avLst/>
            <a:gdLst/>
            <a:ahLst/>
            <a:cxnLst/>
            <a:rect r="r" b="b" t="t" l="l"/>
            <a:pathLst>
              <a:path h="2559656" w="2559656">
                <a:moveTo>
                  <a:pt x="0" y="0"/>
                </a:moveTo>
                <a:lnTo>
                  <a:pt x="2559657" y="0"/>
                </a:lnTo>
                <a:lnTo>
                  <a:pt x="2559657" y="2559657"/>
                </a:lnTo>
                <a:lnTo>
                  <a:pt x="0" y="255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85254" y="7676202"/>
            <a:ext cx="3467112" cy="3743171"/>
          </a:xfrm>
          <a:custGeom>
            <a:avLst/>
            <a:gdLst/>
            <a:ahLst/>
            <a:cxnLst/>
            <a:rect r="r" b="b" t="t" l="l"/>
            <a:pathLst>
              <a:path h="3743171" w="3467112">
                <a:moveTo>
                  <a:pt x="0" y="0"/>
                </a:moveTo>
                <a:lnTo>
                  <a:pt x="3467112" y="0"/>
                </a:lnTo>
                <a:lnTo>
                  <a:pt x="3467112" y="3743171"/>
                </a:lnTo>
                <a:lnTo>
                  <a:pt x="0" y="374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5784" y="7508880"/>
            <a:ext cx="3067032" cy="4839499"/>
          </a:xfrm>
          <a:custGeom>
            <a:avLst/>
            <a:gdLst/>
            <a:ahLst/>
            <a:cxnLst/>
            <a:rect r="r" b="b" t="t" l="l"/>
            <a:pathLst>
              <a:path h="4839499" w="3067032">
                <a:moveTo>
                  <a:pt x="0" y="0"/>
                </a:moveTo>
                <a:lnTo>
                  <a:pt x="3067032" y="0"/>
                </a:lnTo>
                <a:lnTo>
                  <a:pt x="3067032" y="4839499"/>
                </a:lnTo>
                <a:lnTo>
                  <a:pt x="0" y="4839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43539" y="-1358827"/>
            <a:ext cx="3662997" cy="4114800"/>
          </a:xfrm>
          <a:custGeom>
            <a:avLst/>
            <a:gdLst/>
            <a:ahLst/>
            <a:cxnLst/>
            <a:rect r="r" b="b" t="t" l="l"/>
            <a:pathLst>
              <a:path h="4114800" w="3662997">
                <a:moveTo>
                  <a:pt x="0" y="0"/>
                </a:moveTo>
                <a:lnTo>
                  <a:pt x="3662997" y="0"/>
                </a:lnTo>
                <a:lnTo>
                  <a:pt x="366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67708" y="-1251969"/>
            <a:ext cx="2866424" cy="3622653"/>
          </a:xfrm>
          <a:custGeom>
            <a:avLst/>
            <a:gdLst/>
            <a:ahLst/>
            <a:cxnLst/>
            <a:rect r="r" b="b" t="t" l="l"/>
            <a:pathLst>
              <a:path h="3622653" w="2866424">
                <a:moveTo>
                  <a:pt x="0" y="0"/>
                </a:moveTo>
                <a:lnTo>
                  <a:pt x="2866424" y="0"/>
                </a:lnTo>
                <a:lnTo>
                  <a:pt x="2866424" y="3622654"/>
                </a:lnTo>
                <a:lnTo>
                  <a:pt x="0" y="3622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73092" y="4058285"/>
            <a:ext cx="714181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959"/>
              </a:lnSpc>
            </a:pPr>
            <a:r>
              <a:rPr lang="he-IL" b="true" sz="6399">
                <a:solidFill>
                  <a:srgbClr val="FFDE59"/>
                </a:solidFill>
                <a:latin typeface="Assistant Bold"/>
                <a:ea typeface="Assistant Bold"/>
                <a:cs typeface="Assistant Bold"/>
                <a:sym typeface="Assistant Bold"/>
                <a:rtl val="true"/>
              </a:rPr>
              <a:t>מוזמנים לשאול שאלות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96423" y="7759015"/>
            <a:ext cx="356851" cy="356851"/>
          </a:xfrm>
          <a:custGeom>
            <a:avLst/>
            <a:gdLst/>
            <a:ahLst/>
            <a:cxnLst/>
            <a:rect r="r" b="b" t="t" l="l"/>
            <a:pathLst>
              <a:path h="356851" w="356851">
                <a:moveTo>
                  <a:pt x="0" y="0"/>
                </a:moveTo>
                <a:lnTo>
                  <a:pt x="356851" y="0"/>
                </a:lnTo>
                <a:lnTo>
                  <a:pt x="356851" y="356850"/>
                </a:lnTo>
                <a:lnTo>
                  <a:pt x="0" y="356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34661" y="8725235"/>
            <a:ext cx="358015" cy="358015"/>
          </a:xfrm>
          <a:custGeom>
            <a:avLst/>
            <a:gdLst/>
            <a:ahLst/>
            <a:cxnLst/>
            <a:rect r="r" b="b" t="t" l="l"/>
            <a:pathLst>
              <a:path h="358015" w="358015">
                <a:moveTo>
                  <a:pt x="0" y="0"/>
                </a:moveTo>
                <a:lnTo>
                  <a:pt x="358015" y="0"/>
                </a:lnTo>
                <a:lnTo>
                  <a:pt x="358015" y="358014"/>
                </a:lnTo>
                <a:lnTo>
                  <a:pt x="0" y="358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96423" y="8239690"/>
            <a:ext cx="361719" cy="361719"/>
          </a:xfrm>
          <a:custGeom>
            <a:avLst/>
            <a:gdLst/>
            <a:ahLst/>
            <a:cxnLst/>
            <a:rect r="r" b="b" t="t" l="l"/>
            <a:pathLst>
              <a:path h="361719" w="361719">
                <a:moveTo>
                  <a:pt x="0" y="0"/>
                </a:moveTo>
                <a:lnTo>
                  <a:pt x="361719" y="0"/>
                </a:lnTo>
                <a:lnTo>
                  <a:pt x="361719" y="361720"/>
                </a:lnTo>
                <a:lnTo>
                  <a:pt x="0" y="361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096423" y="7269999"/>
            <a:ext cx="360990" cy="360990"/>
          </a:xfrm>
          <a:custGeom>
            <a:avLst/>
            <a:gdLst/>
            <a:ahLst/>
            <a:cxnLst/>
            <a:rect r="r" b="b" t="t" l="l"/>
            <a:pathLst>
              <a:path h="360990" w="360990">
                <a:moveTo>
                  <a:pt x="0" y="0"/>
                </a:moveTo>
                <a:lnTo>
                  <a:pt x="360990" y="0"/>
                </a:lnTo>
                <a:lnTo>
                  <a:pt x="360990" y="360990"/>
                </a:lnTo>
                <a:lnTo>
                  <a:pt x="0" y="3609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34661" y="9248483"/>
            <a:ext cx="361170" cy="270878"/>
          </a:xfrm>
          <a:custGeom>
            <a:avLst/>
            <a:gdLst/>
            <a:ahLst/>
            <a:cxnLst/>
            <a:rect r="r" b="b" t="t" l="l"/>
            <a:pathLst>
              <a:path h="270878" w="361170">
                <a:moveTo>
                  <a:pt x="0" y="0"/>
                </a:moveTo>
                <a:lnTo>
                  <a:pt x="361170" y="0"/>
                </a:lnTo>
                <a:lnTo>
                  <a:pt x="361170" y="270878"/>
                </a:lnTo>
                <a:lnTo>
                  <a:pt x="0" y="2708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19599" y="7246776"/>
            <a:ext cx="154662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3" tooltip="https://wa.me/972587542274"/>
              </a:rPr>
              <a:t>058-754-2274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5460" y="7714658"/>
            <a:ext cx="15610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4" tooltip="https://www.instagram.com/susyacademy/"/>
              </a:rPr>
              <a:t>susyacademy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53697" y="8698819"/>
            <a:ext cx="412195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5" tooltip="https://www.facebook.com/profile.php?id=61556665914215"/>
              </a:rPr>
              <a:t>Susy Academy - </a:t>
            </a:r>
            <a:r>
              <a:rPr lang="he-IL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6" tooltip="https://www.facebook.com/profile.php?id=61556665914215"/>
                <a:rtl val="true"/>
              </a:rPr>
              <a:t>לימודים באיטליה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3697" y="9178499"/>
            <a:ext cx="350162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7" tooltip="https://mail.google.com/mail/?view=cm&amp;fs=1&amp;to=susyacademyitaly@gmail.com"/>
              </a:rPr>
              <a:t>susyacademyitaly@gmail.com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15460" y="8182540"/>
            <a:ext cx="190711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u="sng">
                <a:solidFill>
                  <a:srgbClr val="D9D9D9"/>
                </a:solidFill>
                <a:latin typeface="Assistant"/>
                <a:ea typeface="Assistant"/>
                <a:cs typeface="Assistant"/>
                <a:sym typeface="Assistant"/>
                <a:hlinkClick r:id="rId18" tooltip="http://www.tiktok.com/@susy.academy"/>
              </a:rPr>
              <a:t>susy.academy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DAGui5Z04oU</dc:identifier>
  <dcterms:modified xsi:type="dcterms:W3CDTF">2011-08-01T06:04:30Z</dcterms:modified>
  <cp:revision>1</cp:revision>
  <dc:title>וובינר סוזי אדקמי</dc:title>
</cp:coreProperties>
</file>